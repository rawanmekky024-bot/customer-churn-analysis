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9a7b078-7fca-f18f-2acb-9cfdd0d5b5de}">
          <p14:sldIdLst>
            <p14:sldId id="256"/>
            <p14:sldId id="257"/>
          </p14:sldIdLst>
        </p14:section>
        <p14:section name="Python" id="{5b7639e9-f6f9-6ac8-1110-95aa8d3ea02e}">
          <p14:sldIdLst>
            <p14:sldId id="258"/>
            <p14:sldId id="259"/>
            <p14:sldId id="260"/>
          </p14:sldIdLst>
        </p14:section>
        <p14:section name="SQL Server" id="{86c21aad-e59f-66a6-1417-9ca9e5aa9b8c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Findings" id="{a09ddbc2-0f90-0f04-20df-7cd133ceadae}">
          <p14:sldIdLst>
            <p14:sldId id="272"/>
          </p14:sldIdLst>
        </p14:section>
        <p14:section name="Power BI" id="{7e186b70-dd83-efb4-9e06-825af28f4760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46888"/>
            <a:ext cx="64008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6"/>
                </a:solidFill>
              </a:rPr>
              <a:t>Customer Churn Analysis  |  Data Project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 1"/>
          <p:cNvSpPr/>
          <p:nvPr/>
        </p:nvSpPr>
        <p:spPr>
          <a:xfrm>
            <a:off x="5669280" y="-1645920"/>
            <a:ext cx="5669280" cy="566928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" name="Glow 2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chemeClr val="accent2">
              <a:alpha val="8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chemeClr val="accent2"/>
                </a:solidFill>
              </a:rPr>
              <a:t>DATA ANALYSIS PROJECT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640080" y="16002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Customer Churn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Analysis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82296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3375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Why customers leave, and who is most at risk</a:t>
            </a:r>
            <a:endParaRPr lang="en-US" sz="1600" dirty="0"/>
          </a:p>
        </p:txBody>
      </p:sp>
      <p:sp>
        <p:nvSpPr>
          <p:cNvPr id="8" name="Stat 1"/>
          <p:cNvSpPr/>
          <p:nvPr/>
        </p:nvSpPr>
        <p:spPr>
          <a:xfrm>
            <a:off x="6309360" y="1097280"/>
            <a:ext cx="2468880" cy="877824"/>
          </a:xfrm>
          <a:prstGeom prst="rect">
            <a:avLst/>
          </a:prstGeom>
          <a:solidFill>
            <a:schemeClr val="bg1">
              <a:alpha val="6000"/>
            </a:schemeClr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097280"/>
            <a:ext cx="54864" cy="87782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0528" y="11704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440,832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1627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customers analysed</a:t>
            </a:r>
            <a:endParaRPr lang="en-US" sz="950" dirty="0"/>
          </a:p>
        </p:txBody>
      </p:sp>
      <p:sp>
        <p:nvSpPr>
          <p:cNvPr id="12" name="Stat 2"/>
          <p:cNvSpPr/>
          <p:nvPr/>
        </p:nvSpPr>
        <p:spPr>
          <a:xfrm>
            <a:off x="6309360" y="2121408"/>
            <a:ext cx="2468880" cy="877824"/>
          </a:xfrm>
          <a:prstGeom prst="rect">
            <a:avLst/>
          </a:prstGeom>
          <a:solidFill>
            <a:schemeClr val="bg1">
              <a:alpha val="6000"/>
            </a:schemeClr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21408"/>
            <a:ext cx="54864" cy="87782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0528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20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columns after cleaning and enrichment</a:t>
            </a:r>
            <a:endParaRPr lang="en-US" sz="950" dirty="0"/>
          </a:p>
        </p:txBody>
      </p:sp>
      <p:sp>
        <p:nvSpPr>
          <p:cNvPr id="16" name="Stat 3"/>
          <p:cNvSpPr/>
          <p:nvPr/>
        </p:nvSpPr>
        <p:spPr>
          <a:xfrm>
            <a:off x="6309360" y="3145536"/>
            <a:ext cx="2468880" cy="877824"/>
          </a:xfrm>
          <a:prstGeom prst="rect">
            <a:avLst/>
          </a:prstGeom>
          <a:solidFill>
            <a:schemeClr val="bg1">
              <a:alpha val="6000"/>
            </a:schemeClr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145536"/>
            <a:ext cx="54864" cy="87782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10528" y="32186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15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6510528" y="3675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business questions answered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The data and our goal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858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440,832 subscription customers  |  12 raw columns, one row per customer</a:t>
            </a:r>
            <a:endParaRPr lang="en-US" sz="1000" dirty="0"/>
          </a:p>
        </p:txBody>
      </p:sp>
      <p:sp>
        <p:nvSpPr>
          <p:cNvPr id="4" name="Customer card"/>
          <p:cNvSpPr/>
          <p:nvPr/>
        </p:nvSpPr>
        <p:spPr>
          <a:xfrm>
            <a:off x="365760" y="1051560"/>
            <a:ext cx="2697480" cy="1554480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4864" cy="1554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247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Customer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99032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95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customer_id</a:t>
            </a:r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chemeClr val="accent6"/>
                </a:solidFill>
              </a:rPr>
              <a:t>  unique ID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chemeClr val="accent6"/>
                </a:solidFill>
              </a:rPr>
              <a:t>  18 to 65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gender</a:t>
            </a:r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chemeClr val="accent6"/>
                </a:solidFill>
              </a:rPr>
              <a:t>  Male / Female</a:t>
            </a:r>
            <a:endParaRPr lang="en-US" sz="950" dirty="0"/>
          </a:p>
        </p:txBody>
      </p:sp>
      <p:sp>
        <p:nvSpPr>
          <p:cNvPr id="8" name="Behavior card"/>
          <p:cNvSpPr/>
          <p:nvPr/>
        </p:nvSpPr>
        <p:spPr>
          <a:xfrm>
            <a:off x="3200400" y="1051560"/>
            <a:ext cx="2697480" cy="2651760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51560"/>
            <a:ext cx="54864" cy="26517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1247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Behavior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399032"/>
            <a:ext cx="2423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95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tenure</a:t>
            </a:r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chemeClr val="accent6"/>
                </a:solidFill>
              </a:rPr>
              <a:t>  months as a customer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usage_frequency</a:t>
            </a:r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chemeClr val="accent6"/>
                </a:solidFill>
              </a:rPr>
              <a:t>  how often they use the service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support_calls</a:t>
            </a:r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chemeClr val="accent6"/>
                </a:solidFill>
              </a:rPr>
              <a:t>  calls to support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payment_delay</a:t>
            </a:r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chemeClr val="accent6"/>
                </a:solidFill>
              </a:rPr>
              <a:t>  days late paying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last_interaction</a:t>
            </a:r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chemeClr val="accent6"/>
                </a:solidFill>
              </a:rPr>
              <a:t>  days since last contact</a:t>
            </a:r>
            <a:endParaRPr lang="en-US" sz="950" dirty="0"/>
          </a:p>
        </p:txBody>
      </p:sp>
      <p:sp>
        <p:nvSpPr>
          <p:cNvPr id="12" name="Contract &amp; spend card"/>
          <p:cNvSpPr/>
          <p:nvPr/>
        </p:nvSpPr>
        <p:spPr>
          <a:xfrm>
            <a:off x="365760" y="2743200"/>
            <a:ext cx="2697480" cy="1965960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43200"/>
            <a:ext cx="54864" cy="19659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81635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Contract &amp; spend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090672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95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subscription_type</a:t>
            </a:r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chemeClr val="accent6"/>
                </a:solidFill>
              </a:rPr>
              <a:t>  Basic / Standard / Premium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contract_length</a:t>
            </a:r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chemeClr val="accent6"/>
                </a:solidFill>
              </a:rPr>
              <a:t>  Monthly / Quarterly / Annual</a:t>
            </a:r>
            <a:endParaRPr lang="en-US" sz="9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total_spend</a:t>
            </a:r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chemeClr val="accent6"/>
                </a:solidFill>
              </a:rPr>
              <a:t>  total amount spent</a:t>
            </a:r>
            <a:endParaRPr lang="en-US" sz="950" dirty="0"/>
          </a:p>
        </p:txBody>
      </p:sp>
      <p:sp>
        <p:nvSpPr>
          <p:cNvPr id="16" name="Target card"/>
          <p:cNvSpPr/>
          <p:nvPr/>
        </p:nvSpPr>
        <p:spPr>
          <a:xfrm>
            <a:off x="3200400" y="3840480"/>
            <a:ext cx="2697480" cy="868680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3840480"/>
            <a:ext cx="54864" cy="8686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83280" y="391363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Target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41879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95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</a:t>
            </a:r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chemeClr val="accent6"/>
                </a:solidFill>
              </a:rPr>
              <a:t>  1 = left, 0 = stayed</a:t>
            </a:r>
            <a:endParaRPr lang="en-US" sz="950" dirty="0"/>
          </a:p>
        </p:txBody>
      </p:sp>
      <p:sp>
        <p:nvSpPr>
          <p:cNvPr id="20" name="Goal panel"/>
          <p:cNvSpPr/>
          <p:nvPr/>
        </p:nvSpPr>
        <p:spPr>
          <a:xfrm>
            <a:off x="6035040" y="1051560"/>
            <a:ext cx="2743200" cy="36576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217920" y="11704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chemeClr val="accent2"/>
                </a:solidFill>
              </a:rPr>
              <a:t>WHAT WE WANT TO REACH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144475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Understand why customers leave and who is most at risk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0" y="239572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2395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656832" y="23957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How big is the problem?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03580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0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656832" y="3035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What drives churn?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67588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367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656832" y="36758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Who is most at risk?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422452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Then: targeted retention actions for the riskiest customers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Python: from raw file to clean data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406640" y="283464"/>
            <a:ext cx="1371600" cy="27432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06640" y="283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chemeClr val="bg1"/>
                </a:solidFill>
              </a:rPr>
              <a:t>PYTHON</a:t>
            </a:r>
            <a:endParaRPr lang="en-US" sz="850" dirty="0"/>
          </a:p>
        </p:txBody>
      </p:sp>
      <p:sp>
        <p:nvSpPr>
          <p:cNvPr id="5" name="Stat 1"/>
          <p:cNvSpPr/>
          <p:nvPr/>
        </p:nvSpPr>
        <p:spPr>
          <a:xfrm>
            <a:off x="365760" y="822960"/>
            <a:ext cx="2011680" cy="713232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02920" y="868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440,833 × 12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2344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rows and columns loaded</a:t>
            </a:r>
            <a:endParaRPr lang="en-US" sz="850" dirty="0"/>
          </a:p>
        </p:txBody>
      </p:sp>
      <p:sp>
        <p:nvSpPr>
          <p:cNvPr id="8" name="Stat 2"/>
          <p:cNvSpPr/>
          <p:nvPr/>
        </p:nvSpPr>
        <p:spPr>
          <a:xfrm>
            <a:off x="2514600" y="822960"/>
            <a:ext cx="2011680" cy="713232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651760" y="868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1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12344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empty row removed</a:t>
            </a:r>
            <a:endParaRPr lang="en-US" sz="850" dirty="0"/>
          </a:p>
        </p:txBody>
      </p:sp>
      <p:sp>
        <p:nvSpPr>
          <p:cNvPr id="11" name="Stat 3"/>
          <p:cNvSpPr/>
          <p:nvPr/>
        </p:nvSpPr>
        <p:spPr>
          <a:xfrm>
            <a:off x="4663440" y="822960"/>
            <a:ext cx="2011680" cy="713232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00600" y="868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0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12344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duplicates, 0 missing values</a:t>
            </a:r>
            <a:endParaRPr lang="en-US" sz="850" dirty="0"/>
          </a:p>
        </p:txBody>
      </p:sp>
      <p:sp>
        <p:nvSpPr>
          <p:cNvPr id="14" name="Stat 4"/>
          <p:cNvSpPr/>
          <p:nvPr/>
        </p:nvSpPr>
        <p:spPr>
          <a:xfrm>
            <a:off x="6812280" y="822960"/>
            <a:ext cx="2011680" cy="713232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949440" y="868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12 → 20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12344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columns after 8 new ones</a:t>
            </a:r>
            <a:endParaRPr lang="en-US" sz="850" dirty="0"/>
          </a:p>
        </p:txBody>
      </p:sp>
      <p:sp>
        <p:nvSpPr>
          <p:cNvPr id="17" name="What I did card"/>
          <p:cNvSpPr/>
          <p:nvPr/>
        </p:nvSpPr>
        <p:spPr>
          <a:xfrm>
            <a:off x="365760" y="1691640"/>
            <a:ext cx="2697480" cy="3035808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1691640"/>
            <a:ext cx="269748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352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What I did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" y="2176272"/>
            <a:ext cx="239572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Loaded the CSV with pandas and checked its shape and types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Standardized column names (lowercase, underscores)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Checked missing values and duplicate customer_id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Fixed data types (float to int) and cleaned the text columns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Checked impossible values: age, tenure, spend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Created 8 new columns: churn_label, 6 group columns, avg_monthly_spend</a:t>
            </a:r>
            <a:endParaRPr lang="en-US" sz="900" dirty="0"/>
          </a:p>
        </p:txBody>
      </p:sp>
      <p:sp>
        <p:nvSpPr>
          <p:cNvPr id="21" name="What I found card"/>
          <p:cNvSpPr/>
          <p:nvPr/>
        </p:nvSpPr>
        <p:spPr>
          <a:xfrm>
            <a:off x="3223260" y="1691640"/>
            <a:ext cx="2697480" cy="3035808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23260" y="1691640"/>
            <a:ext cx="2697480" cy="5486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87852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What I found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387852" y="2176272"/>
            <a:ext cx="239572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An almost clean file: one empty row, with no customer data, was removed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0 duplicate customers and 0 missing values left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All ranges are valid: age ≥ 18, tenure ≥ 1, spend ≥ 100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440,832 reliable customers, ready to analyse</a:t>
            </a:r>
            <a:endParaRPr lang="en-US" sz="900" dirty="0"/>
          </a:p>
        </p:txBody>
      </p:sp>
      <p:sp>
        <p:nvSpPr>
          <p:cNvPr id="25" name="How it helped card"/>
          <p:cNvSpPr/>
          <p:nvPr/>
        </p:nvSpPr>
        <p:spPr>
          <a:xfrm>
            <a:off x="6080760" y="1691640"/>
            <a:ext cx="2697480" cy="3035808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1691640"/>
            <a:ext cx="2697480" cy="5486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45352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How it helped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245352" y="2176272"/>
            <a:ext cx="239572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Consistent names and types made the SQL queries simpler to write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Groups (age, tenure, spend, calls, delay, inactivity) let us compare segments instead of raw numbers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churn_label turns 1 and 0 into Churned and Stayed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One clean file, churn_clean.csv, feeds the SQL analysis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Python in action: loading &amp; cleaning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406640" y="283464"/>
            <a:ext cx="1371600" cy="27432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06640" y="283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chemeClr val="bg1"/>
                </a:solidFill>
              </a:rPr>
              <a:t>PYTHON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858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Load &amp; inspect the file  →  standardize column names  →  check duplicates and missing values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" y="1014984"/>
            <a:ext cx="4647127" cy="3730752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Loading the CSV and df.info() in Pyth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4573975" cy="3657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77479" y="1014984"/>
            <a:ext cx="3154680" cy="1622973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Standardizing column nam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055" y="1051560"/>
            <a:ext cx="3081528" cy="154982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177479" y="2747685"/>
            <a:ext cx="3154680" cy="1996061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2" descr="Duplicates and missing values 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055" y="2784261"/>
            <a:ext cx="3081528" cy="192290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Python in action: types, new columns &amp; export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406640" y="283464"/>
            <a:ext cx="1371600" cy="27432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06640" y="283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chemeClr val="bg1"/>
                </a:solidFill>
              </a:rPr>
              <a:t>PYTHON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858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Fix data types and text  →  check impossible values  →  create 8 new feature columns  →  save churn_clean.csv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14984"/>
            <a:ext cx="4050792" cy="2875012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Fixing data types and cleaning 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051560"/>
            <a:ext cx="3977640" cy="28018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35424" y="1014984"/>
            <a:ext cx="4279392" cy="2411414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Creating new feature colum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51560"/>
            <a:ext cx="4206240" cy="233826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5760" y="4069080"/>
            <a:ext cx="2697480" cy="658368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" y="4069080"/>
            <a:ext cx="54864" cy="65836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41148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440,832 × 20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37083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clean table, 0 missing values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223260" y="4069080"/>
            <a:ext cx="2697480" cy="658368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23260" y="4069080"/>
            <a:ext cx="54864" cy="65836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406140" y="41148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Valid ranges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406140" y="437083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age ≥ 18, tenure ≥ 1, spend ≥ 100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080760" y="4069080"/>
            <a:ext cx="2697480" cy="658368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80760" y="4069080"/>
            <a:ext cx="54864" cy="65836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263640" y="41148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 new groups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263640" y="437083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age, tenure, spend, support calls, payment delay, inactivity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From clean data to answers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406640" y="283464"/>
            <a:ext cx="1371600" cy="274320"/>
          </a:xfrm>
          <a:prstGeom prst="roundRect">
            <a:avLst>
              <a:gd name="adj" fmla="val 2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06640" y="283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chemeClr val="bg1"/>
                </a:solidFill>
              </a:rPr>
              <a:t>SQL SERVER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858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churn_clean.csv is loaded into SQL Server, where 15 business questions answer the three goals</a:t>
            </a:r>
            <a:endParaRPr lang="en-US" sz="1000" dirty="0"/>
          </a:p>
        </p:txBody>
      </p:sp>
      <p:sp>
        <p:nvSpPr>
          <p:cNvPr id="6" name="Python step"/>
          <p:cNvSpPr/>
          <p:nvPr/>
        </p:nvSpPr>
        <p:spPr>
          <a:xfrm>
            <a:off x="365760" y="1097280"/>
            <a:ext cx="2468880" cy="777240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73152" cy="7772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1612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Python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481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clean &amp; enrich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10972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QL Server step"/>
          <p:cNvSpPr/>
          <p:nvPr/>
        </p:nvSpPr>
        <p:spPr>
          <a:xfrm>
            <a:off x="3337560" y="1097280"/>
            <a:ext cx="2468880" cy="777240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97280"/>
            <a:ext cx="73152" cy="7772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11612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SQL Server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1481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15 business questions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10972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Power BI step"/>
          <p:cNvSpPr/>
          <p:nvPr/>
        </p:nvSpPr>
        <p:spPr>
          <a:xfrm>
            <a:off x="6309360" y="1097280"/>
            <a:ext cx="2468880" cy="777240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097280"/>
            <a:ext cx="73152" cy="77724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11612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Power BI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1481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interactive dashboard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65760" y="2103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The SQL analysis in four steps</a:t>
            </a:r>
            <a:endParaRPr lang="en-US" sz="1200" dirty="0"/>
          </a:p>
        </p:txBody>
      </p:sp>
      <p:sp>
        <p:nvSpPr>
          <p:cNvPr id="21" name="Step 1"/>
          <p:cNvSpPr/>
          <p:nvPr/>
        </p:nvSpPr>
        <p:spPr>
          <a:xfrm>
            <a:off x="365760" y="2468880"/>
            <a:ext cx="2011680" cy="2194560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468880"/>
            <a:ext cx="201168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" y="26517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32186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Customer base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349300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Q1 to Q4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376732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Who are our customers?</a:t>
            </a:r>
            <a:endParaRPr lang="en-US" sz="950" dirty="0"/>
          </a:p>
        </p:txBody>
      </p:sp>
      <p:sp>
        <p:nvSpPr>
          <p:cNvPr id="27" name="Step 2"/>
          <p:cNvSpPr/>
          <p:nvPr/>
        </p:nvSpPr>
        <p:spPr>
          <a:xfrm>
            <a:off x="2514600" y="2468880"/>
            <a:ext cx="2011680" cy="2194560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14600" y="2468880"/>
            <a:ext cx="2011680" cy="5486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651760" y="26517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2</a:t>
            </a:r>
            <a:endParaRPr lang="en-US" sz="2800" dirty="0"/>
          </a:p>
        </p:txBody>
      </p:sp>
      <p:sp>
        <p:nvSpPr>
          <p:cNvPr id="30" name="Text 28"/>
          <p:cNvSpPr txBox="1"/>
          <p:nvPr/>
        </p:nvSpPr>
        <p:spPr>
          <a:xfrm>
            <a:off x="2651760" y="32186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Churn overview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651760" y="349300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Q5 to Q6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2651760" y="376732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How big is the problem?</a:t>
            </a:r>
            <a:endParaRPr lang="en-US" sz="950" dirty="0"/>
          </a:p>
        </p:txBody>
      </p:sp>
      <p:sp>
        <p:nvSpPr>
          <p:cNvPr id="33" name="Step 3"/>
          <p:cNvSpPr/>
          <p:nvPr/>
        </p:nvSpPr>
        <p:spPr>
          <a:xfrm>
            <a:off x="4663440" y="2468880"/>
            <a:ext cx="2011680" cy="2194560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468880"/>
            <a:ext cx="2011680" cy="5486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00600" y="26517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3</a:t>
            </a:r>
            <a:endParaRPr lang="en-US" sz="280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32186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Churn drivers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800600" y="349300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Q7 to Q9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800600" y="376732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Does plan, contract or gender matter?</a:t>
            </a:r>
            <a:endParaRPr lang="en-US" sz="950" dirty="0"/>
          </a:p>
        </p:txBody>
      </p:sp>
      <p:sp>
        <p:nvSpPr>
          <p:cNvPr id="39" name="Step 4"/>
          <p:cNvSpPr/>
          <p:nvPr/>
        </p:nvSpPr>
        <p:spPr>
          <a:xfrm>
            <a:off x="6812280" y="2468880"/>
            <a:ext cx="2011680" cy="2194560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12280" y="2468880"/>
            <a:ext cx="2011680" cy="5486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949440" y="26517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4</a:t>
            </a:r>
            <a:endParaRPr lang="en-US" sz="2800" dirty="0"/>
          </a:p>
        </p:txBody>
      </p:sp>
      <p:sp>
        <p:nvSpPr>
          <p:cNvPr id="42" name="Text 40"/>
          <p:cNvSpPr txBox="1"/>
          <p:nvPr/>
        </p:nvSpPr>
        <p:spPr>
          <a:xfrm>
            <a:off x="6949440" y="32186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Behaviour &amp; risk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949440" y="349300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4"/>
                </a:solidFill>
              </a:rPr>
              <a:t>Q10 to Q15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6949440" y="376732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Calls, payments, spend, then risk levels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SQL: Customer base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406640" y="283464"/>
            <a:ext cx="1371600" cy="274320"/>
          </a:xfrm>
          <a:prstGeom prst="roundRect">
            <a:avLst>
              <a:gd name="adj" fmla="val 2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06640" y="283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chemeClr val="bg1"/>
                </a:solidFill>
              </a:rPr>
              <a:t>SQL SERVER</a:t>
            </a:r>
            <a:endParaRPr lang="en-US" sz="850" dirty="0"/>
          </a:p>
        </p:txBody>
      </p:sp>
      <p:sp>
        <p:nvSpPr>
          <p:cNvPr id="5" name="Q1 window"/>
          <p:cNvSpPr/>
          <p:nvPr/>
        </p:nvSpPr>
        <p:spPr>
          <a:xfrm>
            <a:off x="365760" y="777240"/>
            <a:ext cx="8412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8412480" cy="25603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813816"/>
            <a:ext cx="365760" cy="18288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" y="813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Q1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77724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Total number of customers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777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SQL Server Management Studio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1033272"/>
            <a:ext cx="310896" cy="1481328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" y="1097280"/>
            <a:ext cx="25603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1097280"/>
            <a:ext cx="4526280" cy="1389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customer_churn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customer_churn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Total number of customers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Total_Customers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[churn_clean (3)]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349240" y="1033272"/>
            <a:ext cx="0" cy="1481328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1033272"/>
            <a:ext cx="3429000" cy="182880"/>
          </a:xfrm>
          <a:prstGeom prst="rect">
            <a:avLst/>
          </a:prstGeom>
          <a:solidFill>
            <a:srgbClr val="F3F3F3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051560"/>
            <a:ext cx="566928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94960" y="105156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6007608" y="105156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Messages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58968" y="1280160"/>
          <a:ext cx="1335024" cy="914400"/>
        </p:xfrm>
        <a:graphic>
          <a:graphicData uri="http://schemas.openxmlformats.org/drawingml/2006/table">
            <a:tbl>
              <a:tblPr/>
              <a:tblGrid>
                <a:gridCol w="237744"/>
                <a:gridCol w="1097280"/>
              </a:tblGrid>
              <a:tr h="209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Total_Customers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440832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458968" y="2194560"/>
            <a:ext cx="3209544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58968" y="2194560"/>
            <a:ext cx="4572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568696" y="2194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440,832 customers in the clean table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65760" y="2514600"/>
            <a:ext cx="8412480" cy="182880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200" y="25146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executed successfully.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4572000" y="25146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customer_churn   |   1 row</a:t>
            </a:r>
            <a:endParaRPr lang="en-US" sz="750" dirty="0"/>
          </a:p>
        </p:txBody>
      </p:sp>
      <p:sp>
        <p:nvSpPr>
          <p:cNvPr id="26" name="Q2 window"/>
          <p:cNvSpPr/>
          <p:nvPr/>
        </p:nvSpPr>
        <p:spPr>
          <a:xfrm>
            <a:off x="365760" y="2807208"/>
            <a:ext cx="8412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65760" y="2807208"/>
            <a:ext cx="8412480" cy="25603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38912" y="2843784"/>
            <a:ext cx="365760" cy="18288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8912" y="28437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Q2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896112" y="280720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Customers by gender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7040880" y="2807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SQL Server Management Studio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365760" y="3063240"/>
            <a:ext cx="310896" cy="1481328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65760" y="3127248"/>
            <a:ext cx="25603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749808" y="3127248"/>
            <a:ext cx="4526280" cy="1389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Customers by gender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Gender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Customer_Count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[churn_clean (3)]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Gender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Customer_Count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349240" y="3063240"/>
            <a:ext cx="0" cy="1481328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349240" y="3063240"/>
            <a:ext cx="3429000" cy="182880"/>
          </a:xfrm>
          <a:prstGeom prst="rect">
            <a:avLst/>
          </a:prstGeom>
          <a:solidFill>
            <a:srgbClr val="F3F3F3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394960" y="3081528"/>
            <a:ext cx="566928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394960" y="308152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6007608" y="308152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Messages</a:t>
            </a:r>
            <a:endParaRPr lang="en-US" sz="7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58968" y="3310128"/>
          <a:ext cx="1822704" cy="914400"/>
        </p:xfrm>
        <a:graphic>
          <a:graphicData uri="http://schemas.openxmlformats.org/drawingml/2006/table">
            <a:tbl>
              <a:tblPr/>
              <a:tblGrid>
                <a:gridCol w="237744"/>
                <a:gridCol w="548640"/>
                <a:gridCol w="1036320"/>
              </a:tblGrid>
              <a:tr h="209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Gender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Customer_Count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Male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250252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Female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190580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Shape 37"/>
          <p:cNvSpPr/>
          <p:nvPr/>
        </p:nvSpPr>
        <p:spPr>
          <a:xfrm>
            <a:off x="5458968" y="4224528"/>
            <a:ext cx="3209544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458968" y="4224528"/>
            <a:ext cx="4572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5568696" y="42245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Male customers are the larger group (about 57%)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365760" y="4544568"/>
            <a:ext cx="8412480" cy="182880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457200" y="45445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executed successfully.</a:t>
            </a:r>
            <a:endParaRPr lang="en-US" sz="750" dirty="0"/>
          </a:p>
        </p:txBody>
      </p:sp>
      <p:sp>
        <p:nvSpPr>
          <p:cNvPr id="46" name="Text 42"/>
          <p:cNvSpPr txBox="1"/>
          <p:nvPr/>
        </p:nvSpPr>
        <p:spPr>
          <a:xfrm>
            <a:off x="4572000" y="45445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customer_churn   |   2 rows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SQL: Age and subscription plans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406640" y="283464"/>
            <a:ext cx="1371600" cy="274320"/>
          </a:xfrm>
          <a:prstGeom prst="roundRect">
            <a:avLst>
              <a:gd name="adj" fmla="val 2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06640" y="283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chemeClr val="bg1"/>
                </a:solidFill>
              </a:rPr>
              <a:t>SQL SERVER</a:t>
            </a:r>
            <a:endParaRPr lang="en-US" sz="850" dirty="0"/>
          </a:p>
        </p:txBody>
      </p:sp>
      <p:sp>
        <p:nvSpPr>
          <p:cNvPr id="5" name="Q3 window"/>
          <p:cNvSpPr/>
          <p:nvPr/>
        </p:nvSpPr>
        <p:spPr>
          <a:xfrm>
            <a:off x="365760" y="777240"/>
            <a:ext cx="8412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8412480" cy="25603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813816"/>
            <a:ext cx="365760" cy="18288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" y="813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Q3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77724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Average customer age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777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SQL Server Management Studio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1033272"/>
            <a:ext cx="310896" cy="1481328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" y="1097280"/>
            <a:ext cx="25603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1097280"/>
            <a:ext cx="4526280" cy="1389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Average customer age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Average_Age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[churn_clean (3)]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349240" y="1033272"/>
            <a:ext cx="0" cy="1481328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1033272"/>
            <a:ext cx="3429000" cy="182880"/>
          </a:xfrm>
          <a:prstGeom prst="rect">
            <a:avLst/>
          </a:prstGeom>
          <a:solidFill>
            <a:srgbClr val="F3F3F3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051560"/>
            <a:ext cx="566928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94960" y="105156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6007608" y="105156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Messages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58968" y="1280160"/>
          <a:ext cx="1091184" cy="914400"/>
        </p:xfrm>
        <a:graphic>
          <a:graphicData uri="http://schemas.openxmlformats.org/drawingml/2006/table">
            <a:tbl>
              <a:tblPr/>
              <a:tblGrid>
                <a:gridCol w="237744"/>
                <a:gridCol w="853440"/>
              </a:tblGrid>
              <a:tr h="209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Average_Age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458968" y="2194560"/>
            <a:ext cx="3209544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58968" y="2194560"/>
            <a:ext cx="4572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568696" y="2194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The average customer is 39 years old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65760" y="2514600"/>
            <a:ext cx="8412480" cy="182880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200" y="25146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executed successfully.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4572000" y="25146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customer_churn   |   1 row</a:t>
            </a:r>
            <a:endParaRPr lang="en-US" sz="750" dirty="0"/>
          </a:p>
        </p:txBody>
      </p:sp>
      <p:sp>
        <p:nvSpPr>
          <p:cNvPr id="26" name="Q4 window"/>
          <p:cNvSpPr/>
          <p:nvPr/>
        </p:nvSpPr>
        <p:spPr>
          <a:xfrm>
            <a:off x="365760" y="2807208"/>
            <a:ext cx="8412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65760" y="2807208"/>
            <a:ext cx="8412480" cy="25603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38912" y="2843784"/>
            <a:ext cx="365760" cy="18288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8912" y="28437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Q4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896112" y="280720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Customers per subscription type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7040880" y="2807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SQL Server Management Studio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365760" y="3063240"/>
            <a:ext cx="310896" cy="1481328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65760" y="3127248"/>
            <a:ext cx="25603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749808" y="3127248"/>
            <a:ext cx="4526280" cy="1389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Customers per subscription type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[subscription_type]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Customer_Count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[churn_clean (3)]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[subscription_type]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Customer_Count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349240" y="3063240"/>
            <a:ext cx="0" cy="1481328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349240" y="3063240"/>
            <a:ext cx="3429000" cy="182880"/>
          </a:xfrm>
          <a:prstGeom prst="rect">
            <a:avLst/>
          </a:prstGeom>
          <a:solidFill>
            <a:srgbClr val="F3F3F3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394960" y="3081528"/>
            <a:ext cx="566928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394960" y="308152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6007608" y="308152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Messages</a:t>
            </a:r>
            <a:endParaRPr lang="en-US" sz="7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58968" y="3310128"/>
          <a:ext cx="2493264" cy="914400"/>
        </p:xfrm>
        <a:graphic>
          <a:graphicData uri="http://schemas.openxmlformats.org/drawingml/2006/table">
            <a:tbl>
              <a:tblPr/>
              <a:tblGrid>
                <a:gridCol w="237744"/>
                <a:gridCol w="1219200"/>
                <a:gridCol w="1036320"/>
              </a:tblGrid>
              <a:tr h="209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subscription_type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Customer_Count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Standard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149128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Premium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148678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Basic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143026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Shape 37"/>
          <p:cNvSpPr/>
          <p:nvPr/>
        </p:nvSpPr>
        <p:spPr>
          <a:xfrm>
            <a:off x="5458968" y="4224528"/>
            <a:ext cx="3209544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458968" y="4224528"/>
            <a:ext cx="4572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5568696" y="42245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Customers are balanced across the three plans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365760" y="4544568"/>
            <a:ext cx="8412480" cy="182880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457200" y="45445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executed successfully.</a:t>
            </a:r>
            <a:endParaRPr lang="en-US" sz="750" dirty="0"/>
          </a:p>
        </p:txBody>
      </p:sp>
      <p:sp>
        <p:nvSpPr>
          <p:cNvPr id="46" name="Text 42"/>
          <p:cNvSpPr txBox="1"/>
          <p:nvPr/>
        </p:nvSpPr>
        <p:spPr>
          <a:xfrm>
            <a:off x="4572000" y="45445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customer_churn   |   3 rows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SQL: Churn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406640" y="283464"/>
            <a:ext cx="1371600" cy="274320"/>
          </a:xfrm>
          <a:prstGeom prst="roundRect">
            <a:avLst>
              <a:gd name="adj" fmla="val 2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06640" y="283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chemeClr val="bg1"/>
                </a:solidFill>
              </a:rPr>
              <a:t>SQL SERVER</a:t>
            </a:r>
            <a:endParaRPr lang="en-US" sz="850" dirty="0"/>
          </a:p>
        </p:txBody>
      </p:sp>
      <p:sp>
        <p:nvSpPr>
          <p:cNvPr id="5" name="Q5 window"/>
          <p:cNvSpPr/>
          <p:nvPr/>
        </p:nvSpPr>
        <p:spPr>
          <a:xfrm>
            <a:off x="365760" y="777240"/>
            <a:ext cx="8412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8412480" cy="25603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813816"/>
            <a:ext cx="365760" cy="18288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" y="813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Q5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77724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Customers who left vs. stayed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777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SQL Server Management Studio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1033272"/>
            <a:ext cx="310896" cy="1481328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" y="1097280"/>
            <a:ext cx="25603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1097280"/>
            <a:ext cx="4526280" cy="1389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Customers who left vs. stayed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Customer_Count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[churn_clean (3)]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349240" y="1033272"/>
            <a:ext cx="0" cy="1481328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1033272"/>
            <a:ext cx="3429000" cy="182880"/>
          </a:xfrm>
          <a:prstGeom prst="rect">
            <a:avLst/>
          </a:prstGeom>
          <a:solidFill>
            <a:srgbClr val="F3F3F3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051560"/>
            <a:ext cx="566928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94960" y="105156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6007608" y="105156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Messages</a:t>
            </a:r>
            <a:endParaRPr lang="en-US" sz="7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58968" y="1280160"/>
          <a:ext cx="1761744" cy="914400"/>
        </p:xfrm>
        <a:graphic>
          <a:graphicData uri="http://schemas.openxmlformats.org/drawingml/2006/table">
            <a:tbl>
              <a:tblPr/>
              <a:tblGrid>
                <a:gridCol w="237744"/>
                <a:gridCol w="487680"/>
                <a:gridCol w="1036320"/>
              </a:tblGrid>
              <a:tr h="209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Churn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Customer_Count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190833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249999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458968" y="2194560"/>
            <a:ext cx="3209544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58968" y="2194560"/>
            <a:ext cx="4572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568696" y="2194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249,999 customers left, 190,833 stayed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65760" y="2514600"/>
            <a:ext cx="8412480" cy="182880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200" y="25146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executed successfully.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4572000" y="25146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customer_churn   |   2 rows</a:t>
            </a:r>
            <a:endParaRPr lang="en-US" sz="750" dirty="0"/>
          </a:p>
        </p:txBody>
      </p:sp>
      <p:sp>
        <p:nvSpPr>
          <p:cNvPr id="26" name="Q6 window"/>
          <p:cNvSpPr/>
          <p:nvPr/>
        </p:nvSpPr>
        <p:spPr>
          <a:xfrm>
            <a:off x="365760" y="2807208"/>
            <a:ext cx="8412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65760" y="2807208"/>
            <a:ext cx="8412480" cy="25603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38912" y="2843784"/>
            <a:ext cx="365760" cy="18288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8912" y="28437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Q6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896112" y="280720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Overall churn rate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7040880" y="2807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SQL Server Management Studio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365760" y="3063240"/>
            <a:ext cx="310896" cy="1481328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65760" y="3127248"/>
            <a:ext cx="25603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749808" y="3127248"/>
            <a:ext cx="4526280" cy="1389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Overall churn rate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CAST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100.0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Churn_Rate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[churn_clean (3)]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349240" y="3063240"/>
            <a:ext cx="0" cy="1481328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349240" y="3063240"/>
            <a:ext cx="3429000" cy="182880"/>
          </a:xfrm>
          <a:prstGeom prst="rect">
            <a:avLst/>
          </a:prstGeom>
          <a:solidFill>
            <a:srgbClr val="F3F3F3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394960" y="3081528"/>
            <a:ext cx="566928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394960" y="308152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6007608" y="308152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Messages</a:t>
            </a:r>
            <a:endParaRPr lang="en-US" sz="7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58968" y="3310128"/>
          <a:ext cx="1030224" cy="914400"/>
        </p:xfrm>
        <a:graphic>
          <a:graphicData uri="http://schemas.openxmlformats.org/drawingml/2006/table">
            <a:tbl>
              <a:tblPr/>
              <a:tblGrid>
                <a:gridCol w="237744"/>
                <a:gridCol w="792480"/>
              </a:tblGrid>
              <a:tr h="209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Churn_Rate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56.71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Shape 37"/>
          <p:cNvSpPr/>
          <p:nvPr/>
        </p:nvSpPr>
        <p:spPr>
          <a:xfrm>
            <a:off x="5458968" y="4224528"/>
            <a:ext cx="3209544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458968" y="4224528"/>
            <a:ext cx="4572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5568696" y="42245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56.71% churn: more than half have already left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365760" y="4544568"/>
            <a:ext cx="8412480" cy="182880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457200" y="45445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executed successfully.</a:t>
            </a:r>
            <a:endParaRPr lang="en-US" sz="750" dirty="0"/>
          </a:p>
        </p:txBody>
      </p:sp>
      <p:sp>
        <p:nvSpPr>
          <p:cNvPr id="46" name="Text 42"/>
          <p:cNvSpPr txBox="1"/>
          <p:nvPr/>
        </p:nvSpPr>
        <p:spPr>
          <a:xfrm>
            <a:off x="4572000" y="45445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customer_churn   |   1 row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SQL: Churn by subscription plan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406640" y="283464"/>
            <a:ext cx="1371600" cy="274320"/>
          </a:xfrm>
          <a:prstGeom prst="roundRect">
            <a:avLst>
              <a:gd name="adj" fmla="val 2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06640" y="283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chemeClr val="bg1"/>
                </a:solidFill>
              </a:rPr>
              <a:t>SQL SERVER</a:t>
            </a:r>
            <a:endParaRPr lang="en-US" sz="850" dirty="0"/>
          </a:p>
        </p:txBody>
      </p:sp>
      <p:sp>
        <p:nvSpPr>
          <p:cNvPr id="5" name="Q7 window"/>
          <p:cNvSpPr/>
          <p:nvPr/>
        </p:nvSpPr>
        <p:spPr>
          <a:xfrm>
            <a:off x="365760" y="731520"/>
            <a:ext cx="8412480" cy="3540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768096"/>
            <a:ext cx="365760" cy="18288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" y="7680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Q7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73152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Does subscription type affect churn?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731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SQL Server Management Studio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987552"/>
            <a:ext cx="347472" cy="189890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" y="1060704"/>
            <a:ext cx="292608" cy="1807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1060704"/>
            <a:ext cx="7863840" cy="1807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Does subscription type affect churn?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[Subscription_Type]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Total_Customers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Churned_Customers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CAST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100.0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Churn_Rate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[churn_clean (3)]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[Subscription_Type]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Churn_Rate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886456"/>
            <a:ext cx="8412480" cy="182880"/>
          </a:xfrm>
          <a:prstGeom prst="rect">
            <a:avLst/>
          </a:prstGeom>
          <a:solidFill>
            <a:srgbClr val="F3F3F3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904744"/>
            <a:ext cx="566928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290474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290474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Messages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3142488"/>
          <a:ext cx="4565904" cy="914400"/>
        </p:xfrm>
        <a:graphic>
          <a:graphicData uri="http://schemas.openxmlformats.org/drawingml/2006/table">
            <a:tbl>
              <a:tblPr/>
              <a:tblGrid>
                <a:gridCol w="237744"/>
                <a:gridCol w="1219200"/>
                <a:gridCol w="1097280"/>
                <a:gridCol w="1219200"/>
                <a:gridCol w="792480"/>
              </a:tblGrid>
              <a:tr h="209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Subscription_Type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Total_Customers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Churned_Customers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Churn_Rate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Basic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143026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83210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58.18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Standard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149128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83616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56.07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Premium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148678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83173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55.94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365760" y="4089400"/>
            <a:ext cx="8412480" cy="182880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40894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executed successfully.</a:t>
            </a:r>
            <a:endParaRPr lang="en-US" sz="7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40894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customer_churn   |   3 rows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65760" y="4345432"/>
            <a:ext cx="8412480" cy="310896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65760" y="4345432"/>
            <a:ext cx="64008" cy="31089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66928" y="434543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chemeClr val="accent2"/>
                </a:solidFill>
              </a:rPr>
              <a:t>KEY TAKEAWAY   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Plan type matters little: only about 2 points separate the three plans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SQL: Churn by contract length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406640" y="283464"/>
            <a:ext cx="1371600" cy="274320"/>
          </a:xfrm>
          <a:prstGeom prst="roundRect">
            <a:avLst>
              <a:gd name="adj" fmla="val 2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06640" y="283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chemeClr val="bg1"/>
                </a:solidFill>
              </a:rPr>
              <a:t>SQL SERVER</a:t>
            </a:r>
            <a:endParaRPr lang="en-US" sz="850" dirty="0"/>
          </a:p>
        </p:txBody>
      </p:sp>
      <p:sp>
        <p:nvSpPr>
          <p:cNvPr id="5" name="Q8 window"/>
          <p:cNvSpPr/>
          <p:nvPr/>
        </p:nvSpPr>
        <p:spPr>
          <a:xfrm>
            <a:off x="365760" y="731520"/>
            <a:ext cx="8412480" cy="3540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768096"/>
            <a:ext cx="365760" cy="18288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" y="7680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Q8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73152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Churn by contract length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731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SQL Server Management Studio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987552"/>
            <a:ext cx="347472" cy="189890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" y="1060704"/>
            <a:ext cx="292608" cy="1807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1060704"/>
            <a:ext cx="7863840" cy="1807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Churn by contract length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[Contract_Length]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Total_Customers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Churned_Customers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CAST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100.0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Churn_Rate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[churn_clean (3)]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[Contract_Length]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Churn_Rate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886456"/>
            <a:ext cx="8412480" cy="182880"/>
          </a:xfrm>
          <a:prstGeom prst="rect">
            <a:avLst/>
          </a:prstGeom>
          <a:solidFill>
            <a:srgbClr val="F3F3F3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904744"/>
            <a:ext cx="566928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290474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290474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Messages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3142488"/>
          <a:ext cx="4443984" cy="914400"/>
        </p:xfrm>
        <a:graphic>
          <a:graphicData uri="http://schemas.openxmlformats.org/drawingml/2006/table">
            <a:tbl>
              <a:tblPr/>
              <a:tblGrid>
                <a:gridCol w="237744"/>
                <a:gridCol w="1097280"/>
                <a:gridCol w="1097280"/>
                <a:gridCol w="1219200"/>
                <a:gridCol w="792480"/>
              </a:tblGrid>
              <a:tr h="209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Contract_Length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Total_Customers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Churned_Customers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Churn_Rate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87104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87104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Annual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177198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81646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46.08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Quarterly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176530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81249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46.03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365760" y="4089400"/>
            <a:ext cx="8412480" cy="182880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40894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executed successfully.</a:t>
            </a:r>
            <a:endParaRPr lang="en-US" sz="7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40894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customer_churn   |   3 rows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65760" y="4345432"/>
            <a:ext cx="8412480" cy="310896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65760" y="4345432"/>
            <a:ext cx="64008" cy="31089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66928" y="434543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chemeClr val="accent2"/>
                </a:solidFill>
              </a:rPr>
              <a:t>KEY TAKEAWAY   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Contract length is the strongest signal: every Monthly customer churned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SQL: Churn by gender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406640" y="283464"/>
            <a:ext cx="1371600" cy="274320"/>
          </a:xfrm>
          <a:prstGeom prst="roundRect">
            <a:avLst>
              <a:gd name="adj" fmla="val 2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06640" y="283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chemeClr val="bg1"/>
                </a:solidFill>
              </a:rPr>
              <a:t>SQL SERVER</a:t>
            </a:r>
            <a:endParaRPr lang="en-US" sz="850" dirty="0"/>
          </a:p>
        </p:txBody>
      </p:sp>
      <p:sp>
        <p:nvSpPr>
          <p:cNvPr id="5" name="Q9 window"/>
          <p:cNvSpPr/>
          <p:nvPr/>
        </p:nvSpPr>
        <p:spPr>
          <a:xfrm>
            <a:off x="365760" y="731520"/>
            <a:ext cx="8412480" cy="3331464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768096"/>
            <a:ext cx="365760" cy="18288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" y="7680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Q9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73152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Is there a churn difference between males and females?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731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SQL Server Management Studio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987552"/>
            <a:ext cx="347472" cy="189890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" y="1060704"/>
            <a:ext cx="292608" cy="1807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1060704"/>
            <a:ext cx="7863840" cy="1807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Is there a churn difference between males and females?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Gender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Total_Customers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Churned_Customers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CAST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100.0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Churn_Rate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[churn_clean (3)]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Gender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Churn_Rate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886456"/>
            <a:ext cx="8412480" cy="182880"/>
          </a:xfrm>
          <a:prstGeom prst="rect">
            <a:avLst/>
          </a:prstGeom>
          <a:solidFill>
            <a:srgbClr val="F3F3F3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904744"/>
            <a:ext cx="566928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290474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290474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Messages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3142488"/>
          <a:ext cx="3895344" cy="914400"/>
        </p:xfrm>
        <a:graphic>
          <a:graphicData uri="http://schemas.openxmlformats.org/drawingml/2006/table">
            <a:tbl>
              <a:tblPr/>
              <a:tblGrid>
                <a:gridCol w="237744"/>
                <a:gridCol w="548640"/>
                <a:gridCol w="1097280"/>
                <a:gridCol w="1219200"/>
                <a:gridCol w="792480"/>
              </a:tblGrid>
              <a:tr h="209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Gender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Total_Customers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Churned_Customers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Churn_Rate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Female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190580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127058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66.67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Male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250252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122941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49.13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365760" y="3880104"/>
            <a:ext cx="8412480" cy="182880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388010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executed successfully.</a:t>
            </a:r>
            <a:endParaRPr lang="en-US" sz="7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388010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customer_churn   |   2 rows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65760" y="4136136"/>
            <a:ext cx="8412480" cy="310896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65760" y="4136136"/>
            <a:ext cx="64008" cy="31089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66928" y="413613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chemeClr val="accent2"/>
                </a:solidFill>
              </a:rPr>
              <a:t>KEY TAKEAWAY   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Women churn about 17.5 points more than men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SQL: Support calls and payment delay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406640" y="283464"/>
            <a:ext cx="1371600" cy="274320"/>
          </a:xfrm>
          <a:prstGeom prst="roundRect">
            <a:avLst>
              <a:gd name="adj" fmla="val 2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06640" y="283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chemeClr val="bg1"/>
                </a:solidFill>
              </a:rPr>
              <a:t>SQL SERVER</a:t>
            </a:r>
            <a:endParaRPr lang="en-US" sz="850" dirty="0"/>
          </a:p>
        </p:txBody>
      </p:sp>
      <p:sp>
        <p:nvSpPr>
          <p:cNvPr id="5" name="Q10 window"/>
          <p:cNvSpPr/>
          <p:nvPr/>
        </p:nvSpPr>
        <p:spPr>
          <a:xfrm>
            <a:off x="365760" y="777240"/>
            <a:ext cx="8412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8412480" cy="25603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813816"/>
            <a:ext cx="365760" cy="18288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" y="813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Q10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77724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Are more support calls linked to churn?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777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SQL Server Management Studio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1033272"/>
            <a:ext cx="310896" cy="1481328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" y="1097280"/>
            <a:ext cx="25603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1097280"/>
            <a:ext cx="4526280" cy="1389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Are more support calls linked to churn?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[support_calls]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Average_Support_Calls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[churn_clean (3)]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349240" y="1033272"/>
            <a:ext cx="0" cy="1481328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1033272"/>
            <a:ext cx="3429000" cy="182880"/>
          </a:xfrm>
          <a:prstGeom prst="rect">
            <a:avLst/>
          </a:prstGeom>
          <a:solidFill>
            <a:srgbClr val="F3F3F3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051560"/>
            <a:ext cx="566928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94960" y="105156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6007608" y="105156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Messages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58968" y="1280160"/>
          <a:ext cx="2188464" cy="914400"/>
        </p:xfrm>
        <a:graphic>
          <a:graphicData uri="http://schemas.openxmlformats.org/drawingml/2006/table">
            <a:tbl>
              <a:tblPr/>
              <a:tblGrid>
                <a:gridCol w="237744"/>
                <a:gridCol w="487680"/>
                <a:gridCol w="1463040"/>
              </a:tblGrid>
              <a:tr h="209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Churn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Average_Support_Calls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458968" y="2194560"/>
            <a:ext cx="3209544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58968" y="2194560"/>
            <a:ext cx="4572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568696" y="2194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Churned customers called support 5 times on average vs 1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65760" y="2514600"/>
            <a:ext cx="8412480" cy="182880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200" y="25146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executed successfully.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4572000" y="25146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customer_churn   |   2 rows</a:t>
            </a:r>
            <a:endParaRPr lang="en-US" sz="750" dirty="0"/>
          </a:p>
        </p:txBody>
      </p:sp>
      <p:sp>
        <p:nvSpPr>
          <p:cNvPr id="26" name="Q11 window"/>
          <p:cNvSpPr/>
          <p:nvPr/>
        </p:nvSpPr>
        <p:spPr>
          <a:xfrm>
            <a:off x="365760" y="2807208"/>
            <a:ext cx="8412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65760" y="2807208"/>
            <a:ext cx="8412480" cy="25603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38912" y="2843784"/>
            <a:ext cx="365760" cy="18288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8912" y="28437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Q11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896112" y="280720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Is payment delay linked to churn?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7040880" y="2807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SQL Server Management Studio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365760" y="3063240"/>
            <a:ext cx="310896" cy="1481328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65760" y="3127248"/>
            <a:ext cx="25603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749808" y="3127248"/>
            <a:ext cx="4526280" cy="1389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Is payment delay linked to churn?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[payment_delay]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Average_Payment_Delay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[churn_clean (3)]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349240" y="3063240"/>
            <a:ext cx="0" cy="1481328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349240" y="3063240"/>
            <a:ext cx="3429000" cy="182880"/>
          </a:xfrm>
          <a:prstGeom prst="rect">
            <a:avLst/>
          </a:prstGeom>
          <a:solidFill>
            <a:srgbClr val="F3F3F3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394960" y="3081528"/>
            <a:ext cx="566928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394960" y="308152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6007608" y="308152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Messages</a:t>
            </a:r>
            <a:endParaRPr lang="en-US" sz="7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58968" y="3310128"/>
          <a:ext cx="2188464" cy="914400"/>
        </p:xfrm>
        <a:graphic>
          <a:graphicData uri="http://schemas.openxmlformats.org/drawingml/2006/table">
            <a:tbl>
              <a:tblPr/>
              <a:tblGrid>
                <a:gridCol w="237744"/>
                <a:gridCol w="487680"/>
                <a:gridCol w="1463040"/>
              </a:tblGrid>
              <a:tr h="209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Churn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Average_Payment_Delay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Shape 37"/>
          <p:cNvSpPr/>
          <p:nvPr/>
        </p:nvSpPr>
        <p:spPr>
          <a:xfrm>
            <a:off x="5458968" y="4224528"/>
            <a:ext cx="3209544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458968" y="4224528"/>
            <a:ext cx="4572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5568696" y="42245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Churned customers paid 15 days late on average vs 10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365760" y="4544568"/>
            <a:ext cx="8412480" cy="182880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457200" y="45445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executed successfully.</a:t>
            </a:r>
            <a:endParaRPr lang="en-US" sz="750" dirty="0"/>
          </a:p>
        </p:txBody>
      </p:sp>
      <p:sp>
        <p:nvSpPr>
          <p:cNvPr id="46" name="Text 42"/>
          <p:cNvSpPr txBox="1"/>
          <p:nvPr/>
        </p:nvSpPr>
        <p:spPr>
          <a:xfrm>
            <a:off x="4572000" y="45445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customer_churn   |   2 rows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SQL: Tenure and total spend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406640" y="283464"/>
            <a:ext cx="1371600" cy="274320"/>
          </a:xfrm>
          <a:prstGeom prst="roundRect">
            <a:avLst>
              <a:gd name="adj" fmla="val 2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06640" y="283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chemeClr val="bg1"/>
                </a:solidFill>
              </a:rPr>
              <a:t>SQL SERVER</a:t>
            </a:r>
            <a:endParaRPr lang="en-US" sz="850" dirty="0"/>
          </a:p>
        </p:txBody>
      </p:sp>
      <p:sp>
        <p:nvSpPr>
          <p:cNvPr id="5" name="Q12 window"/>
          <p:cNvSpPr/>
          <p:nvPr/>
        </p:nvSpPr>
        <p:spPr>
          <a:xfrm>
            <a:off x="365760" y="777240"/>
            <a:ext cx="8412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8412480" cy="25603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813816"/>
            <a:ext cx="365760" cy="18288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" y="813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Q12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77724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Do longer-tenured customers churn less?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777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SQL Server Management Studio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1033272"/>
            <a:ext cx="310896" cy="1481328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" y="1097280"/>
            <a:ext cx="25603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1097280"/>
            <a:ext cx="4526280" cy="1389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Do longer-tenured customers churn less?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Tenure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Average_Tenure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[churn_clean (3)]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349240" y="1033272"/>
            <a:ext cx="0" cy="1481328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1033272"/>
            <a:ext cx="3429000" cy="182880"/>
          </a:xfrm>
          <a:prstGeom prst="rect">
            <a:avLst/>
          </a:prstGeom>
          <a:solidFill>
            <a:srgbClr val="F3F3F3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051560"/>
            <a:ext cx="566928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94960" y="105156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6007608" y="105156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Messages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58968" y="1280160"/>
          <a:ext cx="1761744" cy="914400"/>
        </p:xfrm>
        <a:graphic>
          <a:graphicData uri="http://schemas.openxmlformats.org/drawingml/2006/table">
            <a:tbl>
              <a:tblPr/>
              <a:tblGrid>
                <a:gridCol w="237744"/>
                <a:gridCol w="487680"/>
                <a:gridCol w="1036320"/>
              </a:tblGrid>
              <a:tr h="209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Churn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Average_Tenure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458968" y="2194560"/>
            <a:ext cx="3209544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58968" y="2194560"/>
            <a:ext cx="4572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568696" y="2194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Tenure is similar (32 vs 30 months): a weak signal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65760" y="2514600"/>
            <a:ext cx="8412480" cy="182880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200" y="25146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executed successfully.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4572000" y="25146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customer_churn   |   2 rows</a:t>
            </a:r>
            <a:endParaRPr lang="en-US" sz="750" dirty="0"/>
          </a:p>
        </p:txBody>
      </p:sp>
      <p:sp>
        <p:nvSpPr>
          <p:cNvPr id="26" name="Q13 window"/>
          <p:cNvSpPr/>
          <p:nvPr/>
        </p:nvSpPr>
        <p:spPr>
          <a:xfrm>
            <a:off x="365760" y="2807208"/>
            <a:ext cx="8412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65760" y="2807208"/>
            <a:ext cx="8412480" cy="25603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38912" y="2843784"/>
            <a:ext cx="365760" cy="18288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8912" y="28437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Q13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896112" y="280720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Do higher-spending customers churn less?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7040880" y="2807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SQL Server Management Studio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365760" y="3063240"/>
            <a:ext cx="310896" cy="1481328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65760" y="3127248"/>
            <a:ext cx="25603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749808" y="3127248"/>
            <a:ext cx="4526280" cy="1389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Do higher-spending customers churn less?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CAST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[total_spend]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Average_Total_Spend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[churn_clean (3)]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</a:t>
            </a:r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349240" y="3063240"/>
            <a:ext cx="0" cy="1481328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349240" y="3063240"/>
            <a:ext cx="3429000" cy="182880"/>
          </a:xfrm>
          <a:prstGeom prst="rect">
            <a:avLst/>
          </a:prstGeom>
          <a:solidFill>
            <a:srgbClr val="F3F3F3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394960" y="3081528"/>
            <a:ext cx="566928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394960" y="308152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6007608" y="308152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Messages</a:t>
            </a:r>
            <a:endParaRPr lang="en-US" sz="75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58968" y="3310128"/>
          <a:ext cx="2066544" cy="914400"/>
        </p:xfrm>
        <a:graphic>
          <a:graphicData uri="http://schemas.openxmlformats.org/drawingml/2006/table">
            <a:tbl>
              <a:tblPr/>
              <a:tblGrid>
                <a:gridCol w="237744"/>
                <a:gridCol w="487680"/>
                <a:gridCol w="1341120"/>
              </a:tblGrid>
              <a:tr h="209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Churn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Average_Total_Spend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749.47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541.18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Shape 37"/>
          <p:cNvSpPr/>
          <p:nvPr/>
        </p:nvSpPr>
        <p:spPr>
          <a:xfrm>
            <a:off x="5458968" y="4224528"/>
            <a:ext cx="3209544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458968" y="4224528"/>
            <a:ext cx="4572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5568696" y="42245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Churned customers spent less: 541.18 vs 749.47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365760" y="4544568"/>
            <a:ext cx="8412480" cy="182880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457200" y="45445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executed successfully.</a:t>
            </a:r>
            <a:endParaRPr lang="en-US" sz="750" dirty="0"/>
          </a:p>
        </p:txBody>
      </p:sp>
      <p:sp>
        <p:nvSpPr>
          <p:cNvPr id="46" name="Text 42"/>
          <p:cNvSpPr txBox="1"/>
          <p:nvPr/>
        </p:nvSpPr>
        <p:spPr>
          <a:xfrm>
            <a:off x="4572000" y="45445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customer_churn   |   2 rows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SQL: Last interaction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406640" y="283464"/>
            <a:ext cx="1371600" cy="274320"/>
          </a:xfrm>
          <a:prstGeom prst="roundRect">
            <a:avLst>
              <a:gd name="adj" fmla="val 2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06640" y="283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chemeClr val="bg1"/>
                </a:solidFill>
              </a:rPr>
              <a:t>SQL SERVER</a:t>
            </a:r>
            <a:endParaRPr lang="en-US" sz="850" dirty="0"/>
          </a:p>
        </p:txBody>
      </p:sp>
      <p:sp>
        <p:nvSpPr>
          <p:cNvPr id="5" name="Q14 window"/>
          <p:cNvSpPr/>
          <p:nvPr/>
        </p:nvSpPr>
        <p:spPr>
          <a:xfrm>
            <a:off x="365760" y="731520"/>
            <a:ext cx="8412480" cy="2455164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768096"/>
            <a:ext cx="365760" cy="18288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" y="7680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Q14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73152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Does a longer gap since last interaction raise churn?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731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SQL Server Management Studio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987552"/>
            <a:ext cx="347472" cy="102260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" y="1060704"/>
            <a:ext cx="292608" cy="931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1060704"/>
            <a:ext cx="7863840" cy="931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Does a longer gap since last interaction raise churn?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CAST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[last_interaction]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Average_Last_Interaction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[churn_clean (3)]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010156"/>
            <a:ext cx="8412480" cy="182880"/>
          </a:xfrm>
          <a:prstGeom prst="rect">
            <a:avLst/>
          </a:prstGeom>
          <a:solidFill>
            <a:srgbClr val="F3F3F3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028444"/>
            <a:ext cx="566928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202844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202844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Messages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2266188"/>
          <a:ext cx="2371344" cy="914400"/>
        </p:xfrm>
        <a:graphic>
          <a:graphicData uri="http://schemas.openxmlformats.org/drawingml/2006/table">
            <a:tbl>
              <a:tblPr/>
              <a:tblGrid>
                <a:gridCol w="237744"/>
                <a:gridCol w="487680"/>
                <a:gridCol w="1645920"/>
              </a:tblGrid>
              <a:tr h="209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Churn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Average_Last_Interaction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13.00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15.00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365760" y="3003804"/>
            <a:ext cx="8412480" cy="182880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300380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executed successfully.</a:t>
            </a:r>
            <a:endParaRPr lang="en-US" sz="7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300380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customer_churn   |   2 rows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65760" y="3259836"/>
            <a:ext cx="8412480" cy="310896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65760" y="3259836"/>
            <a:ext cx="64008" cy="31089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66928" y="325983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chemeClr val="accent2"/>
                </a:solidFill>
              </a:rPr>
              <a:t>KEY TAKEAWAY   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Churned customers went longer without contact: 15 days on average vs 13 for those who stayed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SQL: Risk levels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406640" y="283464"/>
            <a:ext cx="1371600" cy="274320"/>
          </a:xfrm>
          <a:prstGeom prst="roundRect">
            <a:avLst>
              <a:gd name="adj" fmla="val 2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06640" y="283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chemeClr val="bg1"/>
                </a:solidFill>
              </a:rPr>
              <a:t>SQL SERVER</a:t>
            </a:r>
            <a:endParaRPr lang="en-US" sz="850" dirty="0"/>
          </a:p>
        </p:txBody>
      </p:sp>
      <p:sp>
        <p:nvSpPr>
          <p:cNvPr id="5" name="Q15 window"/>
          <p:cNvSpPr/>
          <p:nvPr/>
        </p:nvSpPr>
        <p:spPr>
          <a:xfrm>
            <a:off x="365760" y="731520"/>
            <a:ext cx="8412480" cy="368681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768096"/>
            <a:ext cx="365760" cy="18288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" y="7680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Q15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73152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Customers per risk level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731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SQL Server Management Studio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987552"/>
            <a:ext cx="347472" cy="204495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" y="1060704"/>
            <a:ext cx="292608" cy="19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1060704"/>
            <a:ext cx="7863840" cy="19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Customers per risk level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Risk_Level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Customer_Count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[support_calls]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[payment_delay]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'High Risk'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[support_calls]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[payment_delay]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'Medium Risk'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'Low Risk'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Risk_Level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[churn_clean (3)]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Risk_Table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Risk_Level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Customer_Count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032506"/>
            <a:ext cx="8412480" cy="182880"/>
          </a:xfrm>
          <a:prstGeom prst="rect">
            <a:avLst/>
          </a:prstGeom>
          <a:solidFill>
            <a:srgbClr val="F3F3F3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050794"/>
            <a:ext cx="566928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305079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305079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Messages</a:t>
            </a:r>
            <a:endParaRPr lang="en-US" sz="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3288538"/>
          <a:ext cx="2127504" cy="914400"/>
        </p:xfrm>
        <a:graphic>
          <a:graphicData uri="http://schemas.openxmlformats.org/drawingml/2006/table">
            <a:tbl>
              <a:tblPr/>
              <a:tblGrid>
                <a:gridCol w="237744"/>
                <a:gridCol w="853440"/>
                <a:gridCol w="1036320"/>
              </a:tblGrid>
              <a:tr h="209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Risk_Level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Customer_Count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 Risk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281265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Risk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122819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2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 Risk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36748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365760" y="4235450"/>
            <a:ext cx="8412480" cy="182880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423545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executed successfully.</a:t>
            </a:r>
            <a:endParaRPr lang="en-US" sz="7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423545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customer_churn   |   3 rows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65760" y="4491482"/>
            <a:ext cx="8412480" cy="310896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65760" y="4491482"/>
            <a:ext cx="64008" cy="31089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66928" y="449148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chemeClr val="accent2"/>
                </a:solidFill>
              </a:rPr>
              <a:t>KEY TAKEAWAY   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36,748 High Risk customers (calls ≥ 8 and delay ≥ 15) are the first retention target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Key findings and what to do</a:t>
            </a:r>
            <a:endParaRPr lang="en-US" sz="2200" dirty="0"/>
          </a:p>
        </p:txBody>
      </p:sp>
      <p:sp>
        <p:nvSpPr>
          <p:cNvPr id="3" name="Finding 1"/>
          <p:cNvSpPr/>
          <p:nvPr/>
        </p:nvSpPr>
        <p:spPr>
          <a:xfrm>
            <a:off x="365760" y="822960"/>
            <a:ext cx="2697480" cy="1499616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22960"/>
            <a:ext cx="64008" cy="149961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8961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56.71%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716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overall churn rate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6093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249,999 of 440,832 customers left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865376"/>
            <a:ext cx="2286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901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→ </a:t>
            </a:r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Retention should be the top priority</a:t>
            </a:r>
            <a:endParaRPr lang="en-US" sz="900" dirty="0"/>
          </a:p>
        </p:txBody>
      </p:sp>
      <p:sp>
        <p:nvSpPr>
          <p:cNvPr id="10" name="Finding 2"/>
          <p:cNvSpPr/>
          <p:nvPr/>
        </p:nvSpPr>
        <p:spPr>
          <a:xfrm>
            <a:off x="3223260" y="822960"/>
            <a:ext cx="2697480" cy="1499616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3260" y="822960"/>
            <a:ext cx="64008" cy="149961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4428" y="8961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100%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424428" y="13716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of Monthly contracts churned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424428" y="16093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all 87,104 Monthly customers left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24428" y="1865376"/>
            <a:ext cx="2286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4428" y="1901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→ </a:t>
            </a:r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Offer incentives to move to longer contracts</a:t>
            </a:r>
            <a:endParaRPr lang="en-US" sz="900" dirty="0"/>
          </a:p>
        </p:txBody>
      </p:sp>
      <p:sp>
        <p:nvSpPr>
          <p:cNvPr id="17" name="Finding 3"/>
          <p:cNvSpPr/>
          <p:nvPr/>
        </p:nvSpPr>
        <p:spPr>
          <a:xfrm>
            <a:off x="6080760" y="822960"/>
            <a:ext cx="2697480" cy="1499616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822960"/>
            <a:ext cx="64008" cy="149961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8961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66.7% vs 49.1%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281928" y="13716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women vs men churn rate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281928" y="16093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about 17.5 points higher for women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81928" y="1865376"/>
            <a:ext cx="2286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81928" y="1901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→ </a:t>
            </a:r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Look into why women leave more</a:t>
            </a:r>
            <a:endParaRPr lang="en-US" sz="900" dirty="0"/>
          </a:p>
        </p:txBody>
      </p:sp>
      <p:sp>
        <p:nvSpPr>
          <p:cNvPr id="24" name="Finding 4"/>
          <p:cNvSpPr/>
          <p:nvPr/>
        </p:nvSpPr>
        <p:spPr>
          <a:xfrm>
            <a:off x="365760" y="2468880"/>
            <a:ext cx="2697480" cy="1499616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468880"/>
            <a:ext cx="64008" cy="149961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" y="25420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5 vs 1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30175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avg support calls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32552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churned vs stayed customers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6928" y="3511296"/>
            <a:ext cx="2286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35478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→ </a:t>
            </a:r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Flag customers with many support calls early</a:t>
            </a:r>
            <a:endParaRPr lang="en-US" sz="900" dirty="0"/>
          </a:p>
        </p:txBody>
      </p:sp>
      <p:sp>
        <p:nvSpPr>
          <p:cNvPr id="31" name="Finding 5"/>
          <p:cNvSpPr/>
          <p:nvPr/>
        </p:nvSpPr>
        <p:spPr>
          <a:xfrm>
            <a:off x="3223260" y="2468880"/>
            <a:ext cx="2697480" cy="1499616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23260" y="2468880"/>
            <a:ext cx="64008" cy="149961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24428" y="25420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541 vs 749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3424428" y="30175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avg total spend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3424428" y="32552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churned vs stayed customers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424428" y="3511296"/>
            <a:ext cx="2286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424428" y="35478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→ </a:t>
            </a:r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Watch low-spend customers closely</a:t>
            </a:r>
            <a:endParaRPr lang="en-US" sz="900" dirty="0"/>
          </a:p>
        </p:txBody>
      </p:sp>
      <p:sp>
        <p:nvSpPr>
          <p:cNvPr id="38" name="Finding 6"/>
          <p:cNvSpPr/>
          <p:nvPr/>
        </p:nvSpPr>
        <p:spPr>
          <a:xfrm>
            <a:off x="6080760" y="2468880"/>
            <a:ext cx="2697480" cy="1499616"/>
          </a:xfrm>
          <a:prstGeom prst="rect">
            <a:avLst/>
          </a:prstGeom>
          <a:solidFill>
            <a:schemeClr val="bg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80760" y="2468880"/>
            <a:ext cx="64008" cy="149961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81928" y="25420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36,748</a:t>
            </a:r>
            <a:endParaRPr lang="en-US" sz="2600" dirty="0"/>
          </a:p>
        </p:txBody>
      </p:sp>
      <p:sp>
        <p:nvSpPr>
          <p:cNvPr id="41" name="Text 39"/>
          <p:cNvSpPr txBox="1"/>
          <p:nvPr/>
        </p:nvSpPr>
        <p:spPr>
          <a:xfrm>
            <a:off x="6281928" y="30175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High Risk customers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281928" y="32552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calls ≥ 8 and payment delay ≥ 15 days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81928" y="3511296"/>
            <a:ext cx="2286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281928" y="35478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→ </a:t>
            </a:r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Contact them first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4206240"/>
            <a:ext cx="64008" cy="50292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0080" y="42062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Next: exploring these findings interactively in the Power BI dashboard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 1"/>
          <p:cNvSpPr/>
          <p:nvPr/>
        </p:nvSpPr>
        <p:spPr>
          <a:xfrm>
            <a:off x="5852160" y="-1737360"/>
            <a:ext cx="5486400" cy="5486400"/>
          </a:xfrm>
          <a:prstGeom prst="ellipse">
            <a:avLst/>
          </a:prstGeom>
          <a:solidFill>
            <a:srgbClr val="F2C811">
              <a:alpha val="8000"/>
            </a:srgbClr>
          </a:solidFill>
          <a:ln w="12700">
            <a:solidFill>
              <a:srgbClr val="F2C811">
                <a:alpha val="0"/>
              </a:srgbClr>
            </a:solidFill>
            <a:prstDash val="solid"/>
          </a:ln>
        </p:spPr>
      </p:sp>
      <p:sp>
        <p:nvSpPr>
          <p:cNvPr id="3" name="Glow 2"/>
          <p:cNvSpPr/>
          <p:nvPr/>
        </p:nvSpPr>
        <p:spPr>
          <a:xfrm>
            <a:off x="-1371600" y="3657600"/>
            <a:ext cx="3108960" cy="3108960"/>
          </a:xfrm>
          <a:prstGeom prst="ellipse">
            <a:avLst/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2C811"/>
                </a:solidFill>
              </a:rPr>
              <a:t>NEXT: LIVE DASHBOARD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640080" y="10058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numbers to an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2C81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interactive dashboard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The same three questions, now with filters you can click: how big is the problem, what drives it, who is at risk</a:t>
            </a:r>
            <a:endParaRPr lang="en-US" sz="1300" dirty="0"/>
          </a:p>
        </p:txBody>
      </p:sp>
      <p:sp>
        <p:nvSpPr>
          <p:cNvPr id="7" name="Page 1"/>
          <p:cNvSpPr/>
          <p:nvPr/>
        </p:nvSpPr>
        <p:spPr>
          <a:xfrm>
            <a:off x="640080" y="3017520"/>
            <a:ext cx="2514600" cy="1463040"/>
          </a:xfrm>
          <a:prstGeom prst="rect">
            <a:avLst/>
          </a:prstGeom>
          <a:solidFill>
            <a:schemeClr val="bg1">
              <a:alpha val="6000"/>
            </a:schemeClr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2514600" cy="54864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C811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Overview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611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The big picture: churn rate, age group, gender and the revenue of churned customers</a:t>
            </a:r>
            <a:endParaRPr lang="en-US" sz="950" dirty="0"/>
          </a:p>
        </p:txBody>
      </p:sp>
      <p:sp>
        <p:nvSpPr>
          <p:cNvPr id="12" name="Page 2"/>
          <p:cNvSpPr/>
          <p:nvPr/>
        </p:nvSpPr>
        <p:spPr>
          <a:xfrm>
            <a:off x="3337560" y="3017520"/>
            <a:ext cx="2514600" cy="1463040"/>
          </a:xfrm>
          <a:prstGeom prst="rect">
            <a:avLst/>
          </a:prstGeom>
          <a:solidFill>
            <a:schemeClr val="bg1">
              <a:alpha val="6000"/>
            </a:schemeClr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3017520"/>
            <a:ext cx="2514600" cy="54864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02152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C811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Risk Drivers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502152" y="3611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What pushes customers out: contract, support calls, payment delay, spend, risk levels</a:t>
            </a:r>
            <a:endParaRPr lang="en-US" sz="950" dirty="0"/>
          </a:p>
        </p:txBody>
      </p:sp>
      <p:sp>
        <p:nvSpPr>
          <p:cNvPr id="17" name="Page 3"/>
          <p:cNvSpPr/>
          <p:nvPr/>
        </p:nvSpPr>
        <p:spPr>
          <a:xfrm>
            <a:off x="6035040" y="3017520"/>
            <a:ext cx="2514600" cy="1463040"/>
          </a:xfrm>
          <a:prstGeom prst="rect">
            <a:avLst/>
          </a:prstGeom>
          <a:solidFill>
            <a:schemeClr val="bg1">
              <a:alpha val="6000"/>
            </a:schemeClr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3017520"/>
            <a:ext cx="2514600" cy="54864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99632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C811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Weak Factors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611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What does not matter: subscription plan, tenure, usage frequency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645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Switching to Power BI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urn Navy">
  <a:themeElements>
    <a:clrScheme name="Churn Navy">
      <a:dk1>
        <a:srgbClr val="0A1628"/>
      </a:dk1>
      <a:lt1>
        <a:srgbClr val="FFFFFF"/>
      </a:lt1>
      <a:dk2>
        <a:srgbClr val="1E2A44"/>
      </a:dk2>
      <a:lt2>
        <a:srgbClr val="F4F6FA"/>
      </a:lt2>
      <a:accent1>
        <a:srgbClr val="3B82F6"/>
      </a:accent1>
      <a:accent2>
        <a:srgbClr val="22D3EE"/>
      </a:accent2>
      <a:accent3>
        <a:srgbClr val="F97316"/>
      </a:accent3>
      <a:accent4>
        <a:srgbClr val="10B981"/>
      </a:accent4>
      <a:accent5>
        <a:srgbClr val="EF4444"/>
      </a:accent5>
      <a:accent6>
        <a:srgbClr val="64748B"/>
      </a:accent6>
      <a:hlink>
        <a:srgbClr val="3B82F6"/>
      </a:hlink>
      <a:folHlink>
        <a:srgbClr val="64748B"/>
      </a:folHlink>
    </a:clrScheme>
    <a:fontScheme name="Churn Navy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</dc:title>
  <dc:subject>PptxGenJS Presentation</dc:subject>
  <dc:creator>PptxGenJS</dc:creator>
  <cp:lastModifiedBy>PptxGenJS</cp:lastModifiedBy>
  <cp:revision>1</cp:revision>
  <dcterms:created xsi:type="dcterms:W3CDTF">2026-10-02T21:14:36Z</dcterms:created>
  <dcterms:modified xsi:type="dcterms:W3CDTF">2026-10-02T21:14:36Z</dcterms:modified>
</cp:coreProperties>
</file>